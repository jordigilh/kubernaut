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371600"/>
            <a:ext cx="10058400" cy="10972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5400" b="1">
                <a:solidFill>
                  <a:srgbClr val="1A1A2E"/>
                </a:solidFill>
              </a:defRPr>
            </a:pPr>
            <a:r>
              <a:t>Kubernaut</a:t>
            </a:r>
          </a:p>
          <a:p>
            <a:pPr>
              <a:spcBef>
                <a:spcPts val="1200"/>
              </a:spcBef>
              <a:defRPr sz="2400">
                <a:solidFill>
                  <a:srgbClr val="007ACC"/>
                </a:solidFill>
              </a:defRPr>
            </a:pPr>
            <a:r>
              <a:t>Kubernetes-Native Autonomous Remediation Platform</a:t>
            </a:r>
          </a:p>
          <a:p>
            <a:pPr>
              <a:spcBef>
                <a:spcPts val="2400"/>
              </a:spcBef>
              <a:defRPr sz="1600">
                <a:solidFill>
                  <a:srgbClr val="666666"/>
                </a:solidFill>
              </a:defRPr>
            </a:pPr>
            <a:r>
              <a:t>Technical Overview  •  February 2026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2344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Pipeline Overview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188720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>
                <a:solidFill>
                  <a:srgbClr val="666666"/>
                </a:solidFill>
              </a:defRPr>
            </a:pPr>
            <a:r>
              <a:t>When a monitoring alert fires, Kubernaut ingests it, enriches it with cluster context, asks an LLM to diagnose the root cause and select a remediation workflow, executes that workflow safely, and then measures whether the fix actually worked.</a:t>
            </a:r>
          </a:p>
        </p:txBody>
      </p:sp>
      <p:pic>
        <p:nvPicPr>
          <p:cNvPr id="5" name="Picture 4" descr="kubernaut-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8047" y="2011680"/>
            <a:ext cx="10515600" cy="457200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731520" y="6400800"/>
            <a:ext cx="1005840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>
                <a:solidFill>
                  <a:srgbClr val="666666"/>
                </a:solidFill>
              </a:defRPr>
            </a:pPr>
            <a:r>
              <a:t>Supporting services: DataStorage (audit trail + workflow catalog)  •  HolmesGPT-API (LLM orchestration)  •  AuthWebhook (SOC2 identity injection)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Gateway</a:t>
            </a:r>
          </a:p>
          <a:p>
            <a:pPr>
              <a:spcBef>
                <a:spcPts val="600"/>
              </a:spcBef>
              <a:defRPr sz="1600">
                <a:solidFill>
                  <a:srgbClr val="666666"/>
                </a:solidFill>
              </a:defRPr>
            </a:pPr>
            <a:r>
              <a:t>Webhook receiver  •  HTTP server  •  CRD: RemediationRequest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Pluggable adapters: Prometheus AlertManager, Kubernetes Events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Status-based deduplication using RR fingerprint lookups (no Redis)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Replay prevention: header-first with body-fallback freshness validation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Scope filtering: label-based opt-in (kubernaut.ai/managed=true)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Distributed locking: K8s Lease-based for multi-replica safety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Circuit breaker: protects against K8s API cascading failures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Buffered audit events to DataStorage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Graceful shutdown with readiness probe (503 during drain)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Signal Flow: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1. HTTP POST arrives at adapter route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2. Middleware: concurrency throttle, replay validation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3. Adapter parses payload into NormalizedSignal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4. Scope check, distributed lock, deduplication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5. New: create RemediationRequest CRD (201)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   Duplicate: update status (202)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Signal Processing</a:t>
            </a:r>
          </a:p>
          <a:p>
            <a:pPr>
              <a:spcBef>
                <a:spcPts val="600"/>
              </a:spcBef>
              <a:defRPr sz="1600">
                <a:solidFill>
                  <a:srgbClr val="666666"/>
                </a:solidFill>
              </a:defRPr>
            </a:pPr>
            <a:r>
              <a:t>K8s controller  •  CRD: SignalProcessing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Phase flow: Pending &gt; Enriching &gt; Classifying &gt; Categorizing &gt; Completed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K8s enrichment: namespace, pod, deployment, owner chain, node, PDB, HPA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5 Rego classifiers: Environment, Priority, Severity, Business, CustomLabels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Detected labels: GitOps, Helm, PDB-protected, HPA-managed, service mesh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Signal mode: predictive vs reactive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Recovery context propagation for retries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Degraded mode: partial enrichment when target not found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80160"/>
            <a:ext cx="5303520" cy="5029200"/>
          </a:xfrm>
          <a:prstGeom prst="roundRect">
            <a:avLst/>
          </a:prstGeom>
          <a:solidFill>
            <a:srgbClr val="F6F8FA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package signalprocessing.priority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import rego.v2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# Severity rank: higher = more urgent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severity_rank := 3 if { lower(input.signal.severity) == "critical" 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severity_rank := 2 if { lower(input.signal.severity) == "warning" 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severity_rank := 1 if { lower(input.signal.severity) == "info" 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default severity_rank := 0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# Environment rank: higher = more sensitive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env_rank := 3 if { lower(input.environment) == "production" 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env_rank := 2 if { lower(input.environment) == "staging" 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env_rank := 1 if { lower(input.environment) == "development" 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default env_rank := 0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# Combined score -&gt; priority (N + M rules instead of N * M)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score := severity_rank + env_rank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result := {"priority": "P0"} if { score &gt;= 6 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result := {"priority": "P1"} if { score &gt;= 4; score &lt; 6 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result := {"priority": "P2"} if { score &gt;= 2; score &lt; 4 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default result := {"priority": "P3"}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AI Analysis</a:t>
            </a:r>
          </a:p>
          <a:p>
            <a:pPr>
              <a:spcBef>
                <a:spcPts val="600"/>
              </a:spcBef>
              <a:defRPr sz="1600">
                <a:solidFill>
                  <a:srgbClr val="666666"/>
                </a:solidFill>
              </a:defRPr>
            </a:pPr>
            <a:r>
              <a:t>K8s controller  •  CRD: AIAnalysis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Phase flow: Pending &gt; Investigating &gt; Analyzing &gt; Completed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HolmesGPT integration: async session (submit &gt; poll &gt; result)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Workflow selection: HAPI returns workflow ID, image, parameters, rationale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Rego approval policy: approved / manual_review_required / denied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Affected resource: LLM identifies the actual target (e.g., Deployment not Pod)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Recovery flow: avoids repeating failed remediations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Execution engine: supports tekton and job backends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WorkflowNotNeeded: LLM determines problem self-resolved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217920" y="1280160"/>
            <a:ext cx="5303520" cy="5029200"/>
          </a:xfrm>
          <a:prstGeom prst="roundRect">
            <a:avLst/>
          </a:prstGeom>
          <a:solidFill>
            <a:srgbClr val="F6F8FA"/>
          </a:solidFill>
          <a:ln w="12700">
            <a:solidFill>
              <a:srgbClr val="D0D7D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package aianalysis.approval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import rego.v2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default require_approval := false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# Production environment requires manual approval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require_approval if {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    is_production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# Multiple recovery attempts (3+) require approval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require_approval if {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    is_multiple_recovery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# Production + unvalidated target requires approval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require_approval if {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    is_production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    not target_validated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}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# Production + stateful workload requires approval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require_approval if {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    is_production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    is_stateful</a:t>
            </a:r>
          </a:p>
          <a:p>
            <a:pPr>
              <a:spcBef>
                <a:spcPts val="100"/>
              </a:spcBef>
              <a:spcAft>
                <a:spcPts val="100"/>
              </a:spcAft>
              <a:defRPr sz="1000">
                <a:solidFill>
                  <a:srgbClr val="24292E"/>
                </a:solidFill>
                <a:latin typeface="Menlo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HolmesGPT-API (HAPI)</a:t>
            </a:r>
          </a:p>
          <a:p>
            <a:pPr>
              <a:spcBef>
                <a:spcPts val="600"/>
              </a:spcBef>
              <a:defRPr sz="1600">
                <a:solidFill>
                  <a:srgbClr val="666666"/>
                </a:solidFill>
              </a:defRPr>
            </a:pPr>
            <a:r>
              <a:t>Python FastAPI service  •  LLM orchestration layer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Three API endpoints: incident analysis, recovery, post-execution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Session-based async API: submit investigation &gt; poll &gt; result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Auth: K8s ServiceAccount tokens (TokenReview + SubjectAccessReview)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Mock LLM mode: deterministic responses for testing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3-Step Workflow Discovery Protocol: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1. list_available_actions — what can I do?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2. list_workflows — which workflows implement this action?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3. get_workflow — fetch schema and parameters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Remediation History Enrichment: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Queries DataStorage for past remediations on same target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Injects into prompt so LLM avoids repeating failures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Three-way hash comparison for spec drift detection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Returns: root cause, affected resource, selected workflow, approval context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Remediation Orchestrator</a:t>
            </a:r>
          </a:p>
          <a:p>
            <a:pPr>
              <a:spcBef>
                <a:spcPts val="600"/>
              </a:spcBef>
              <a:defRPr sz="1600">
                <a:solidFill>
                  <a:srgbClr val="666666"/>
                </a:solidFill>
              </a:defRPr>
            </a:pPr>
            <a:r>
              <a:t>K8s controller  •  CRD: RemediationRequest (owns all child CRDs)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Phase state machine: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  Pending &gt; Processing &gt; Analyzing &gt; AwaitingApproval &gt; Executing &gt; Completed / Failed / TimedOut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Child CRD lifecycle: creates SP, AA, WE, NR, EA at phase transitions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Approval flow: creates RemediationApprovalRequest when Rego requires it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Routing engine: scope blocking, consecutive failure blocking, dedup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Timeout handling: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  Global: 1h, Processing: 5m, Analyzing: 10m, Executing: 30m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Pre-remediation spec hash: SHA-256 of target .spec before workflow runs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EA creation on all terminal phases (Completed, Failed, TimedOut)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AI-resolved target: uses LLM-identified AffectedResource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Atomic status updates with optimistic concurrency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Full audit trail to DataStorage at every phase transition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Workflow Execution</a:t>
            </a:r>
          </a:p>
          <a:p>
            <a:pPr>
              <a:spcBef>
                <a:spcPts val="600"/>
              </a:spcBef>
              <a:defRPr sz="1600">
                <a:solidFill>
                  <a:srgbClr val="666666"/>
                </a:solidFill>
              </a:defRPr>
            </a:pPr>
            <a:r>
              <a:t>K8s controller  •  CRD: WorkflowExecution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Pure executor: RO makes all routing decisions (cooldown, blocking, backoff) before WFE creation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Executor registry: tekton (PipelineRun with OCI bundle resolver) and job (Kubernetes Job)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Deterministic resource naming: prevents duplicate executions for same target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Resource locking: deterministic name-based locking from targetResource identity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Structured failure details: TaskFailed, OOMKilled, DeadlineExceeded, ImagePullBackOff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External deletion handling: detects when PipelineRun/Job is deleted outside the controller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Dedicated execution namespace (kubernaut-workflows): isolation from application workloads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Audit events: workflow.started (with parameters), workflow.completed/failed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Effectiveness Monitor</a:t>
            </a:r>
          </a:p>
          <a:p>
            <a:pPr>
              <a:spcBef>
                <a:spcPts val="600"/>
              </a:spcBef>
              <a:defRPr sz="1600">
                <a:solidFill>
                  <a:srgbClr val="666666"/>
                </a:solidFill>
              </a:defRPr>
            </a:pPr>
            <a:r>
              <a:t>K8s controller  •  CRD: EffectivenessAssessment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4 Assessment Components (each scored 0.0–1.0):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Health: pod status, readiness, restarts, CrashLoopBackOff, OOMKilled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Alert resolution: queries AlertManager for signal resolution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Metrics: 5 PromQL queries (CPU, memory, latency p95, error rate, throughput) pre vs post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Spec hash: SHA-256 comparison of pre/post remediation target .spec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Kind-aware health checks: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  Deployment/RS/SS/DS: label-based pod listing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  Pod: direct lookup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  ConfigMap/Secret/Node: "not applicable"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Stabilization window: configurable wait (default 5m)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Validity window: max time to complete (default 30m)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Spec drift guard: invalidates if target changes during assessment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Assessment reasons: full, partial, no_execution, expired, spec_drift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5 typed audit events emitted to DataStorage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Notification</a:t>
            </a:r>
          </a:p>
          <a:p>
            <a:pPr>
              <a:spcBef>
                <a:spcPts val="600"/>
              </a:spcBef>
              <a:defRPr sz="1600">
                <a:solidFill>
                  <a:srgbClr val="666666"/>
                </a:solidFill>
              </a:defRPr>
            </a:pPr>
            <a:r>
              <a:t>K8s controller  •  CRD: NotificationRequest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Phase flow: Pending &gt; Sending &gt; Retrying &gt; Sent / PartiallySent / Failed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Delivery channels: Slack (webhook with circuit breaker), Console, File, Log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Label-based routing: ConfigMap-driven rules with hot-reload (no restart required)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Exponential backoff retries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Circuit breaker: prevents cascading failures to external webhooks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Notification types: approval requests, timeout escalations, completion summaries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Audit events: message.sent, message.failed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Atomic status updates per delivery attempt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DataStorage</a:t>
            </a:r>
          </a:p>
          <a:p>
            <a:pPr>
              <a:spcBef>
                <a:spcPts val="600"/>
              </a:spcBef>
              <a:defRPr sz="1600">
                <a:solidFill>
                  <a:srgbClr val="666666"/>
                </a:solidFill>
              </a:defRPr>
            </a:pPr>
            <a:r>
              <a:t>HTTP server (OpenAPI-driven)  •  PostgreSQL backend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Audit events API: batch write, query by correlation ID, hash chain verification (SOC2)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Workflow catalog API: CRUD, action-type taxonomy, version lifecycle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Workflow discovery API: three-step protocol for LLM-driven selection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Remediation history API: two-tier windowing (24h recent + 90d historical)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OpenAPI-first: data-storage-v1.yaml spec with auto-generated Go and Python clients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PostgreSQL primary storage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Redis dead letter queue for failed audit writes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K8s auth: TokenReview + SubjectAccessReview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Graceful shutdown with connection draining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Three-way hash comparison for configuration regression detection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AuthWebhook</a:t>
            </a:r>
          </a:p>
          <a:p>
            <a:pPr>
              <a:spcBef>
                <a:spcPts val="600"/>
              </a:spcBef>
              <a:defRPr sz="1600">
                <a:solidFill>
                  <a:srgbClr val="666666"/>
                </a:solidFill>
              </a:defRPr>
            </a:pPr>
            <a:r>
              <a:t>Mutating + Validating admission webhook  •  SOC2 CC8.1 compliance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5156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Mutating webhooks for identity injection: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  WorkflowExecution: status.initiatedBy, status.approvedBy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  RemediationApprovalRequest: status.approvedBy, status.rejectedBy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  RemediationRequest: status.lastModifiedBy, status.lastModifiedAt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Validating webhook: audit event before NotificationRequest deletion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Forgery detection: overwrites user-provided identity fields, logs tampering attempts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Decision validation: enforces Approved/Rejected/Expired for approval decisions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Namespace selector: only processes namespaces with kubernaut.ai/audit-enabled=true</a:t>
            </a:r>
          </a:p>
          <a:p>
            <a:pPr>
              <a:spcBef>
                <a:spcPts val="400"/>
              </a:spcBef>
              <a:defRPr sz="1400">
                <a:solidFill>
                  <a:srgbClr val="333333"/>
                </a:solidFill>
              </a:defRPr>
            </a:pPr>
            <a:r>
              <a:t>mTLS via cert-manager; failure policy Fail (rejects if webhook is down)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Test Coverage Snapshot</a:t>
            </a:r>
          </a:p>
          <a:p>
            <a:pPr>
              <a:spcBef>
                <a:spcPts val="600"/>
              </a:spcBef>
              <a:defRPr sz="1600">
                <a:solidFill>
                  <a:srgbClr val="666666"/>
                </a:solidFill>
              </a:defRPr>
            </a:pPr>
            <a:r>
              <a:t>PR #90  •  February 2026  •  Per-tier coverage (&gt;=80% target)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1371600" y="1463040"/>
          <a:ext cx="9144000" cy="4572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1371600"/>
                <a:gridCol w="1645920"/>
                <a:gridCol w="1371600"/>
                <a:gridCol w="1554480"/>
              </a:tblGrid>
              <a:tr h="415636"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Service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Unit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Integration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E2E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All Tiers</a:t>
                      </a:r>
                    </a:p>
                  </a:txBody>
                  <a:tcPr>
                    <a:solidFill>
                      <a:srgbClr val="1A1A2E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Signal Processing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87.3%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61.4%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58.2%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7F37"/>
                          </a:solidFill>
                        </a:defRPr>
                      </a:pPr>
                      <a:r>
                        <a:t>85.4%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AI Analysis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80.0%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73.6%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53.8%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7F37"/>
                          </a:solidFill>
                        </a:defRPr>
                      </a:pPr>
                      <a:r>
                        <a:t>87.6%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Workflow Execution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74.0%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67.9%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56.0%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7F37"/>
                          </a:solidFill>
                        </a:defRPr>
                      </a:pPr>
                      <a:r>
                        <a:t>82.9%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Remediation Orchestrator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79.9%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59.8%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49.1%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7F37"/>
                          </a:solidFill>
                        </a:defRPr>
                      </a:pPr>
                      <a:r>
                        <a:t>82.1%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Notification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75.5%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57.6%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49.5%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F8B00"/>
                          </a:solidFill>
                        </a:defRPr>
                      </a:pPr>
                      <a:r>
                        <a:t>73.3%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Effectiveness Monitor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72.1%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64.9%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68.8%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7F37"/>
                          </a:solidFill>
                        </a:defRPr>
                      </a:pPr>
                      <a:r>
                        <a:t>81.9%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Gateway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65.5%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42.5%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59.0%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7F37"/>
                          </a:solidFill>
                        </a:defRPr>
                      </a:pPr>
                      <a:r>
                        <a:t>81.5%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DataStorage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60.1%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34.9%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48.7%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CF222E"/>
                          </a:solidFill>
                        </a:defRPr>
                      </a:pPr>
                      <a:r>
                        <a:t>65.4%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  <a:tr h="415636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HolmesGPT-API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79.0%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62.1%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59.1%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1A7F37"/>
                          </a:solidFill>
                        </a:defRPr>
                      </a:pPr>
                      <a:r>
                        <a:t>94.1%</a:t>
                      </a:r>
                    </a:p>
                  </a:txBody>
                  <a:tcPr>
                    <a:solidFill>
                      <a:srgbClr val="F6F8FA"/>
                    </a:solidFill>
                  </a:tcPr>
                </a:tc>
              </a:tr>
              <a:tr h="415640">
                <a:tc>
                  <a:txBody>
                    <a:bodyPr/>
                    <a:lstStyle/>
                    <a:p>
                      <a:pPr algn="l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AuthWebhook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50.0%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49.0%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333333"/>
                          </a:solidFill>
                        </a:defRPr>
                      </a:pPr>
                      <a:r>
                        <a:t>41.6%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defRPr sz="1200">
                          <a:solidFill>
                            <a:srgbClr val="BF8B00"/>
                          </a:solidFill>
                        </a:defRPr>
                      </a:pPr>
                      <a:r>
                        <a:t>78.4%</a:t>
                      </a:r>
                    </a:p>
                  </a:txBody>
                  <a:tcPr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365760"/>
            <a:ext cx="10058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3200" b="1">
                <a:solidFill>
                  <a:srgbClr val="1A1A2E"/>
                </a:solidFill>
              </a:defRPr>
            </a:pPr>
            <a:r>
              <a:t>Live Demo</a:t>
            </a:r>
          </a:p>
          <a:p>
            <a:pPr>
              <a:spcBef>
                <a:spcPts val="600"/>
              </a:spcBef>
              <a:defRPr sz="1600">
                <a:solidFill>
                  <a:srgbClr val="666666"/>
                </a:solidFill>
              </a:defRPr>
            </a:pPr>
            <a:r>
              <a:t>End-to-end autonomous remediation of an OOMKilled pod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0058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502920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Scenario: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A memory-eater pod is deployed with a 50Mi memory limit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The application needs 60Mi, so it gets OOMKilled by the kernel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The pod enters CrashLoopBackOff, triggering a Kubernetes event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What Kubernaut Does: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1. Gateway ingests the OOMKill event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2. Signal Processing enriches it (owner chain, labels, classification)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3. AI Analysis sends it to the LLM via HolmesGPT-API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4. LLM diagnoses: "memory limit too low" with 0.95 confidence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5. LLM selects the oomkill-increase-memory workflow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217920" y="1280160"/>
            <a:ext cx="53035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What to Watch: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6. Rego policy evaluates approval (auto-approved in dev)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7. Workflow Execution runs a K8s Job that patches the Deployment memory limit from 50Mi to 128Mi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8. Kubernetes rolls out a new pod with the higher limit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9. Pod starts successfully and stays Running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10. Effectiveness Monitor assesses the fix (health, alerts, metrics, spec hash)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11. Notification sends a Slack message with the outcome</a:t>
            </a:r>
          </a:p>
          <a:p>
            <a:pPr>
              <a:spcBef>
                <a:spcPts val="800"/>
              </a:spcBef>
            </a:pP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Key Observation: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The entire pipeline runs autonomously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No human intervention from alert to fix</a:t>
            </a:r>
          </a:p>
          <a:p>
            <a:pPr>
              <a:spcBef>
                <a:spcPts val="400"/>
              </a:spcBef>
              <a:defRPr sz="1300">
                <a:solidFill>
                  <a:srgbClr val="333333"/>
                </a:solidFill>
              </a:defRPr>
            </a:pPr>
            <a:r>
              <a:t>Full audit trail in DataStorage at every step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31520" y="1828800"/>
            <a:ext cx="10058400" cy="18288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5400" b="1">
                <a:solidFill>
                  <a:srgbClr val="1A1A2E"/>
                </a:solidFill>
              </a:defRPr>
            </a:pPr>
            <a:r>
              <a:t>Questions?</a:t>
            </a:r>
          </a:p>
          <a:p>
            <a:pPr algn="ctr">
              <a:spcBef>
                <a:spcPts val="3600"/>
              </a:spcBef>
              <a:defRPr sz="2000">
                <a:solidFill>
                  <a:srgbClr val="007ACC"/>
                </a:solidFill>
              </a:defRPr>
            </a:pPr>
            <a:r>
              <a:t>github.com/jordigilh/kubernaut</a:t>
            </a:r>
          </a:p>
        </p:txBody>
      </p:sp>
      <p:sp>
        <p:nvSpPr>
          <p:cNvPr id="3" name="Rectangle 2"/>
          <p:cNvSpPr/>
          <p:nvPr/>
        </p:nvSpPr>
        <p:spPr>
          <a:xfrm>
            <a:off x="731520" y="1691640"/>
            <a:ext cx="1828800" cy="38100"/>
          </a:xfrm>
          <a:prstGeom prst="rect">
            <a:avLst/>
          </a:prstGeom>
          <a:solidFill>
            <a:srgbClr val="007AC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